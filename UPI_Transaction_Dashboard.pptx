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p5tPtT+neH46L7z3uSgqwA==" hashData="zCRF7mkqv1Oa0Ajq4pYkYLbr4Ty3H1X4LYHseqjMGOJo5Ik1chd3hRMAUD8vZsqIJ1CmR+SvcGxxRbRt4WfZ0w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42612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F16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B7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B7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UPI Transaction Analysis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574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78BDA"/>
                </a:solidFill>
              </a:rPr>
              <a:t>Power BI dashboard · Year 2024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Umesh Sakpal  |  Power BI Developer &amp; Data Analyst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1546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C3E6"/>
                </a:solidFill>
              </a:rPr>
              <a:t>github.com/Sakpal23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at a glance</a:t>
            </a:r>
            <a:endParaRPr lang="en-US" sz="3200" dirty="0"/>
          </a:p>
        </p:txBody>
      </p:sp>
      <p:pic>
        <p:nvPicPr>
          <p:cNvPr id="3" name="Data model" descr="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2651760" cy="32095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44348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Data model: one table</a:t>
            </a:r>
            <a:endParaRPr lang="en-US" sz="1100" dirty="0"/>
          </a:p>
        </p:txBody>
      </p:sp>
      <p:sp>
        <p:nvSpPr>
          <p:cNvPr id="5" name="Card Data"/>
          <p:cNvSpPr/>
          <p:nvPr/>
        </p:nvSpPr>
        <p:spPr>
          <a:xfrm>
            <a:off x="3474720" y="1188720"/>
            <a:ext cx="52120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3657600" y="128016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4846320" y="128016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One table, UPI_Transaction. About 20,000 transactions in INR, USD, EUR and GBP.</a:t>
            </a:r>
            <a:endParaRPr lang="en-US" sz="1400" dirty="0"/>
          </a:p>
        </p:txBody>
      </p:sp>
      <p:sp>
        <p:nvSpPr>
          <p:cNvPr id="8" name="Card Pages"/>
          <p:cNvSpPr/>
          <p:nvPr/>
        </p:nvSpPr>
        <p:spPr>
          <a:xfrm>
            <a:off x="3474720" y="2286000"/>
            <a:ext cx="52120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657600" y="237744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Pages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4846320" y="237744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Page 1: monthly trend views. Page 2: city, currency and month matrix.</a:t>
            </a:r>
            <a:endParaRPr lang="en-US" sz="1400" dirty="0"/>
          </a:p>
        </p:txBody>
      </p:sp>
      <p:sp>
        <p:nvSpPr>
          <p:cNvPr id="11" name="Card Controls"/>
          <p:cNvSpPr/>
          <p:nvPr/>
        </p:nvSpPr>
        <p:spPr>
          <a:xfrm>
            <a:off x="3474720" y="3383280"/>
            <a:ext cx="5212080" cy="914400"/>
          </a:xfrm>
          <a:prstGeom prst="roundRect">
            <a:avLst>
              <a:gd name="adj" fmla="val 800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657600" y="347472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Controls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846320" y="347472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10 slicers, 4 bookmark buttons to switch views, and a Currency filter on all pages.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B7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1: Monthly trends</a:t>
            </a:r>
            <a:endParaRPr lang="en-US" sz="3200" dirty="0"/>
          </a:p>
        </p:txBody>
      </p:sp>
      <p:pic>
        <p:nvPicPr>
          <p:cNvPr id="3" name="Amount line" descr="/mnt/user-data/uploads/Dashboard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4023360" cy="2286000"/>
          </a:xfrm>
          <a:prstGeom prst="rect">
            <a:avLst/>
          </a:prstGeom>
        </p:spPr>
      </p:pic>
      <p:pic>
        <p:nvPicPr>
          <p:cNvPr id="4" name="Balance line" descr="/mnt/user-data/uploads/Dashboard_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1188720"/>
            <a:ext cx="4023360" cy="2267712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3520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Transaction amount by month</a:t>
            </a:r>
            <a:endParaRPr lang="en-US" sz="1200" dirty="0"/>
          </a:p>
        </p:txBody>
      </p:sp>
      <p:sp>
        <p:nvSpPr>
          <p:cNvPr id="6" name="Text 2"/>
          <p:cNvSpPr txBox="1"/>
          <p:nvPr/>
        </p:nvSpPr>
        <p:spPr>
          <a:xfrm>
            <a:off x="4663440" y="3520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Remaining balance by month</a:t>
            </a:r>
            <a:endParaRPr lang="en-US" sz="1200" dirty="0"/>
          </a:p>
        </p:txBody>
      </p:sp>
      <p:sp>
        <p:nvSpPr>
          <p:cNvPr id="7" name="Text 3"/>
          <p:cNvSpPr txBox="1"/>
          <p:nvPr/>
        </p:nvSpPr>
        <p:spPr>
          <a:xfrm>
            <a:off x="457200" y="3977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Bookmark buttons switch between line and column views of both measures. All 10 slicers filter every view.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B7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Page 2: City, currency and month</a:t>
            </a:r>
            <a:endParaRPr lang="en-US" sz="3200" dirty="0"/>
          </a:p>
        </p:txBody>
      </p:sp>
      <p:pic>
        <p:nvPicPr>
          <p:cNvPr id="3" name="Matrix" descr="/mnt/user-data/uploads/Dashboard_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5760720" cy="325526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92240" y="1188720"/>
            <a:ext cx="21945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Matrix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Amount and remaining balance by month, grouped by city and currency.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Conditional colours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Darker cells show higher values at a glance.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B7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3200" dirty="0"/>
          </a:p>
        </p:txBody>
      </p:sp>
      <p:sp>
        <p:nvSpPr>
          <p:cNvPr id="3" name="Stat 0"/>
          <p:cNvSpPr/>
          <p:nvPr/>
        </p:nvSpPr>
        <p:spPr>
          <a:xfrm>
            <a:off x="457200" y="1280160"/>
            <a:ext cx="1920240" cy="20116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4173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1.71M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Highest monthly amount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743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May</a:t>
            </a:r>
            <a:endParaRPr lang="en-US" sz="1600" dirty="0"/>
          </a:p>
        </p:txBody>
      </p:sp>
      <p:sp>
        <p:nvSpPr>
          <p:cNvPr id="7" name="Stat 1"/>
          <p:cNvSpPr/>
          <p:nvPr/>
        </p:nvSpPr>
        <p:spPr>
          <a:xfrm>
            <a:off x="2560320" y="1280160"/>
            <a:ext cx="1920240" cy="20116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560320" y="14173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1.60M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2651760" y="2194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Lowest monthly amount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560320" y="2743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August</a:t>
            </a:r>
            <a:endParaRPr lang="en-US" sz="1600" dirty="0"/>
          </a:p>
        </p:txBody>
      </p:sp>
      <p:sp>
        <p:nvSpPr>
          <p:cNvPr id="11" name="Stat 2"/>
          <p:cNvSpPr/>
          <p:nvPr/>
        </p:nvSpPr>
        <p:spPr>
          <a:xfrm>
            <a:off x="4663440" y="1280160"/>
            <a:ext cx="1920240" cy="20116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663440" y="14173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8.54M</a:t>
            </a:r>
            <a:endParaRPr lang="en-US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4754880" y="2194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Highest balance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743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June</a:t>
            </a:r>
            <a:endParaRPr lang="en-US" sz="1600" dirty="0"/>
          </a:p>
        </p:txBody>
      </p:sp>
      <p:sp>
        <p:nvSpPr>
          <p:cNvPr id="15" name="Stat 3"/>
          <p:cNvSpPr/>
          <p:nvPr/>
        </p:nvSpPr>
        <p:spPr>
          <a:xfrm>
            <a:off x="6766560" y="1280160"/>
            <a:ext cx="1920240" cy="201168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66560" y="14173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8.22M</a:t>
            </a:r>
            <a:endParaRPr lang="en-US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219456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1"/>
                </a:solidFill>
              </a:rPr>
              <a:t>Lowest balance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766560" y="274320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2"/>
                </a:solidFill>
              </a:rPr>
              <a:t>May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3611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tx1"/>
                </a:solidFill>
              </a:rPr>
              <a:t>Monthly amounts stay in a narrow range of 1.60M to 1.71M across the year.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321040" y="475488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6B6B7B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5603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A78BDA"/>
                </a:solidFill>
              </a:rPr>
              <a:t>Umesh Sakpal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175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FC3E6"/>
                </a:solidFill>
              </a:rPr>
              <a:t>umeshsakpal14@gmail.com   |   github.com/Sakpal23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PI Dashboard">
  <a:themeElements>
    <a:clrScheme name="UPI Dashboard">
      <a:dk1>
        <a:srgbClr val="1F1633"/>
      </a:dk1>
      <a:lt1>
        <a:srgbClr val="FFFFFF"/>
      </a:lt1>
      <a:dk2>
        <a:srgbClr val="5B2A86"/>
      </a:dk2>
      <a:lt2>
        <a:srgbClr val="E3F3F0"/>
      </a:lt2>
      <a:accent1>
        <a:srgbClr val="8B3A9B"/>
      </a:accent1>
      <a:accent2>
        <a:srgbClr val="2A9D8F"/>
      </a:accent2>
      <a:accent3>
        <a:srgbClr val="A78BDA"/>
      </a:accent3>
      <a:accent4>
        <a:srgbClr val="C9A227"/>
      </a:accent4>
      <a:accent5>
        <a:srgbClr val="5B2A86"/>
      </a:accent5>
      <a:accent6>
        <a:srgbClr val="6B6B7B"/>
      </a:accent6>
      <a:hlink>
        <a:srgbClr val="5B2A86"/>
      </a:hlink>
      <a:folHlink>
        <a:srgbClr val="6B6B7B"/>
      </a:folHlink>
    </a:clrScheme>
    <a:fontScheme name="UPI Dashboard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215</Words>
  <Application>Microsoft Office PowerPoint</Application>
  <PresentationFormat>On-screen Show (16:9)</PresentationFormat>
  <Paragraphs>49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UPI Dashboard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Umesh Sakpal</cp:lastModifiedBy>
  <cp:revision>2</cp:revision>
  <dcterms:created xsi:type="dcterms:W3CDTF">2026-10-24T09:52:17Z</dcterms:created>
  <dcterms:modified xsi:type="dcterms:W3CDTF">2026-10-24T09:54:08Z</dcterms:modified>
</cp:coreProperties>
</file>